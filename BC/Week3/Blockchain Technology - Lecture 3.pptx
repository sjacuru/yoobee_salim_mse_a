
<file path=[Content_Types].xml><?xml version="1.0" encoding="utf-8"?>
<Types xmlns="http://schemas.openxmlformats.org/package/2006/content-types">
  <Default ContentType="application/x-fontdata" Extension="fntdata"/>
  <Default ContentType="image/png" Extension="png"/>
  <Default ContentType="application/vnd.openxmlformats-package.relationships+xml" Extension="rels"/>
  <Default ContentType="application/xml" Extension="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package.core-properties+xml" PartName="/docProps/core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6858000" cx="9144000"/>
  <p:notesSz cx="6858000" cy="9144000"/>
  <p:embeddedFontLst>
    <p:embeddedFont>
      <p:font typeface="Economica"/>
      <p:regular r:id="rId36"/>
      <p:bold r:id="rId37"/>
      <p:italic r:id="rId38"/>
      <p:boldItalic r:id="rId39"/>
    </p:embeddedFont>
    <p:embeddedFont>
      <p:font typeface="Open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44" roundtripDataSignature="AMtx7mj+8XWPhNdZucz5yZmIKLM57mZE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FF5A3F02-EECF-472F-8959-CB2B2F48F8DE}">
  <a:tblStyle styleId="{FF5A3F02-EECF-472F-8959-CB2B2F48F8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regular.fntdata"/><Relationship Id="rId20" Type="http://schemas.openxmlformats.org/officeDocument/2006/relationships/slide" Target="slides/slide14.xml"/><Relationship Id="rId42" Type="http://schemas.openxmlformats.org/officeDocument/2006/relationships/font" Target="fonts/OpenSans-italic.fntdata"/><Relationship Id="rId41" Type="http://schemas.openxmlformats.org/officeDocument/2006/relationships/font" Target="fonts/OpenSans-bold.fntdata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font" Target="fonts/OpenSans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Economica-bold.fntdata"/><Relationship Id="rId14" Type="http://schemas.openxmlformats.org/officeDocument/2006/relationships/slide" Target="slides/slide8.xml"/><Relationship Id="rId36" Type="http://schemas.openxmlformats.org/officeDocument/2006/relationships/font" Target="fonts/Economica-regular.fntdata"/><Relationship Id="rId17" Type="http://schemas.openxmlformats.org/officeDocument/2006/relationships/slide" Target="slides/slide11.xml"/><Relationship Id="rId39" Type="http://schemas.openxmlformats.org/officeDocument/2006/relationships/font" Target="fonts/Economica-boldItalic.fntdata"/><Relationship Id="rId16" Type="http://schemas.openxmlformats.org/officeDocument/2006/relationships/slide" Target="slides/slide10.xml"/><Relationship Id="rId38" Type="http://schemas.openxmlformats.org/officeDocument/2006/relationships/font" Target="fonts/Economica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039766e02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039766e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7039766e02_0_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039766e02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7039766e0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7039766e02_0_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039766e02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039766e0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7039766e02_0_1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039766e02_0_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039766e0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7039766e02_0_8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7039766e02_0_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7039766e02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7039766e02_0_11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7039766e02_0_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7039766e0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7039766e02_0_12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7039766e02_0_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7039766e0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7039766e02_0_8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7039766e02_0_1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7039766e02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7039766e02_0_12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39766e02_0_1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39766e02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7039766e02_0_134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7039766e02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7039766e0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7039766e02_0_21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039766e02_0_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7039766e02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7039766e02_0_9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7039766e02_0_1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7039766e02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7039766e02_0_14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7039766e02_0_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7039766e0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7039766e02_0_9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039766e02_0_1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039766e02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7039766e02_0_14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7039766e02_0_1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7039766e02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7039766e02_0_15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7039766e02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7039766e0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7039766e02_0_2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7039766e02_0_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7039766e0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7039766e02_0_4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7039766e02_0_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7039766e0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7039766e02_0_37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7039766e02_0_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7039766e0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7039766e02_0_5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7039766e02_0_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7039766e0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7039766e02_0_6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7039766e02_0_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7039766e0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7039766e02_0_6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7039766e02_0_1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7039766e02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7039766e02_0_15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7039766e02_0_1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7039766e02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7039766e02_0_164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7039766e02_0_1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7039766e02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7039766e02_0_17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039766e02_0_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7039766e0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7039766e02_0_74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7039766e02_0_1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7039766e02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7039766e02_0_17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7039766e02_0_1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7039766e02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7039766e02_0_18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6f0f40772d_0_1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5" name="Google Shape;265;g6f0f40772d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6f0f40772d_0_15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f130a460c_0_519"/>
          <p:cNvSpPr/>
          <p:nvPr/>
        </p:nvSpPr>
        <p:spPr>
          <a:xfrm>
            <a:off x="2744013" y="1008933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" name="Google Shape;15;g6f130a460c_0_519"/>
          <p:cNvSpPr/>
          <p:nvPr/>
        </p:nvSpPr>
        <p:spPr>
          <a:xfrm rot="10800000">
            <a:off x="5318350" y="43556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" name="Google Shape;16;g6f130a460c_0_519"/>
          <p:cNvSpPr txBox="1"/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7" name="Google Shape;17;g6f130a460c_0_519"/>
          <p:cNvSpPr txBox="1"/>
          <p:nvPr>
            <p:ph idx="1" type="subTitle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8" name="Google Shape;18;g6f130a460c_0_5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6f130a460c_0_530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6f130a460c_0_530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2" name="Google Shape;22;g6f130a460c_0_530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6f130a460c_0_5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6f130a460c_0_525"/>
          <p:cNvSpPr/>
          <p:nvPr/>
        </p:nvSpPr>
        <p:spPr>
          <a:xfrm flipH="1">
            <a:off x="7595938" y="613633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6" name="Google Shape;26;g6f130a460c_0_525"/>
          <p:cNvSpPr/>
          <p:nvPr/>
        </p:nvSpPr>
        <p:spPr>
          <a:xfrm flipH="1" rot="10800000">
            <a:off x="466425" y="47444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7" name="Google Shape;27;g6f130a460c_0_525"/>
          <p:cNvSpPr txBox="1"/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8" name="Google Shape;28;g6f130a460c_0_5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6f130a460c_0_535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1" name="Google Shape;31;g6f130a460c_0_535"/>
          <p:cNvSpPr txBox="1"/>
          <p:nvPr>
            <p:ph idx="1" type="body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g6f130a460c_0_535"/>
          <p:cNvSpPr txBox="1"/>
          <p:nvPr>
            <p:ph idx="2" type="body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g6f130a460c_0_5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6f130a460c_0_540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6" name="Google Shape;36;g6f130a460c_0_5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6f130a460c_0_54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" name="Google Shape;39;g6f130a460c_0_543"/>
          <p:cNvSpPr txBox="1"/>
          <p:nvPr>
            <p:ph idx="1" type="body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g6f130a460c_0_5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6f130a460c_0_547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6f130a460c_0_547"/>
          <p:cNvSpPr txBox="1"/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g6f130a460c_0_54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6f130a460c_0_551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g6f130a460c_0_551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g6f130a460c_0_551"/>
          <p:cNvSpPr txBox="1"/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9" name="Google Shape;49;g6f130a460c_0_551"/>
          <p:cNvSpPr txBox="1"/>
          <p:nvPr>
            <p:ph idx="1" type="subTitle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0" name="Google Shape;50;g6f130a460c_0_551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g6f130a460c_0_55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6f130a460c_0_558"/>
          <p:cNvSpPr txBox="1"/>
          <p:nvPr>
            <p:ph idx="1" type="body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4" name="Google Shape;54;g6f130a460c_0_55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6f130a460c_0_56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6f130a460c_0_561"/>
          <p:cNvSpPr txBox="1"/>
          <p:nvPr>
            <p:ph hasCustomPrompt="1" type="title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g6f130a460c_0_561"/>
          <p:cNvSpPr txBox="1"/>
          <p:nvPr>
            <p:ph idx="1" type="body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g6f130a460c_0_5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f130a460c_0_56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f130a460c_0_56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6f130a460c_0_56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g6f130a460c_0_56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g6f130a460c_0_56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g6f130a460c_0_56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f130a460c_0_515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1" name="Google Shape;11;g6f130a460c_0_515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" name="Google Shape;12;g6f130a460c_0_5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en.wikipedia.org/wiki/Node_(networking)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ata-flair.training/blogs/ethereum-blockchain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2741225" y="2306675"/>
            <a:ext cx="3683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600"/>
              <a:t>Blockchain Variants</a:t>
            </a:r>
            <a:endParaRPr sz="4600"/>
          </a:p>
        </p:txBody>
      </p:sp>
      <p:sp>
        <p:nvSpPr>
          <p:cNvPr id="73" name="Google Shape;73;p1"/>
          <p:cNvSpPr txBox="1"/>
          <p:nvPr>
            <p:ph idx="1" type="subTitle"/>
          </p:nvPr>
        </p:nvSpPr>
        <p:spPr>
          <a:xfrm>
            <a:off x="4495800" y="4876800"/>
            <a:ext cx="4114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/>
          </a:p>
        </p:txBody>
      </p:sp>
      <p:sp>
        <p:nvSpPr>
          <p:cNvPr id="74" name="Google Shape;74;p1"/>
          <p:cNvSpPr txBox="1"/>
          <p:nvPr/>
        </p:nvSpPr>
        <p:spPr>
          <a:xfrm>
            <a:off x="6871750" y="6335725"/>
            <a:ext cx="21441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Blockchain Technology</a:t>
            </a:r>
            <a:endParaRPr b="0" i="0" sz="1800" u="none" cap="none" strike="noStrik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7039766e02_0_0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Blockchain Variants</a:t>
            </a:r>
            <a:endParaRPr/>
          </a:p>
        </p:txBody>
      </p:sp>
      <p:sp>
        <p:nvSpPr>
          <p:cNvPr id="81" name="Google Shape;81;g7039766e02_0_0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Public 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Private 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Hybrid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Consortium/Federated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Permissioned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7039766e02_0_6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we need different blockchains?</a:t>
            </a:r>
            <a:endParaRPr/>
          </a:p>
        </p:txBody>
      </p:sp>
      <p:sp>
        <p:nvSpPr>
          <p:cNvPr id="88" name="Google Shape;88;g7039766e02_0_6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The most basic need or application of a blockchain is to carry out transactions or exchange of information through a secure network. 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The way people use </a:t>
            </a: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blockchain and distributed ledger technology</a:t>
            </a: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 or network vary from case to case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Cryptocurrencies should have public access so that they can be used by  mainstream users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In comparison, a banks’s blockchain should be closed for outside access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Cant have single blockchain for everything!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b="1"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Questions:</a:t>
            </a: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 Why there are so many search engines and browsers when only one can serve the purpose?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7039766e02_0_13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Public Blockchain</a:t>
            </a:r>
            <a:endParaRPr/>
          </a:p>
        </p:txBody>
      </p:sp>
      <p:sp>
        <p:nvSpPr>
          <p:cNvPr id="95" name="Google Shape;95;g7039766e02_0_13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 public blockchain is a non-restrictive, permission-less distributed ledger system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Anyone who has access to the internet can sign in on a blockchain platform to become an authorized node and be a part of the blockchain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 node or user which is a part of the public blockchain is authorized to access current and past records, verify transactions or do proof-of-work for an incoming block, and do mining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 most basic use of public blockchains is for mining and exchanging cryptocurrencies e.g. Bitcoin, Ethereum, Litecoin, etc</a:t>
            </a:r>
            <a:endParaRPr sz="26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039766e02_0_80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Benefits of Public Blockchain: Trustable</a:t>
            </a:r>
            <a:endParaRPr/>
          </a:p>
        </p:txBody>
      </p:sp>
      <p:sp>
        <p:nvSpPr>
          <p:cNvPr id="102" name="Google Shape;102;g7039766e02_0_80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Two nodes or participants do not need to worry about the authenticity of the other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Nodes don’t need to personally know or trust the other nodes as the process of proof-of-work makes sure there can be no fraud in transactions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Users can trust public blockchains blindly without feeling the needing to trust individual nodes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7039766e02_0_116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Benefits of Public Blockchain: Secure</a:t>
            </a:r>
            <a:endParaRPr/>
          </a:p>
        </p:txBody>
      </p:sp>
      <p:sp>
        <p:nvSpPr>
          <p:cNvPr id="109" name="Google Shape;109;g7039766e02_0_116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There can be as many participants or nodes in a public network which makes it a secure network. 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The larger the network, greater the distribution of records and harder it is for hackers to hack the entire network. 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Every </a:t>
            </a: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uFill>
                  <a:noFill/>
                </a:uFill>
                <a:latin typeface="Economica"/>
                <a:ea typeface="Economica"/>
                <a:cs typeface="Economica"/>
                <a:sym typeface="Economica"/>
                <a:hlinkClick r:id="rId3"/>
              </a:rPr>
              <a:t>node</a:t>
            </a: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 will do verification of transactions and proof-of-work which makes every transaction and block legitimate. 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Due to these practices and thoughtful cryptogenic encrypting methods, a public blockchain is much safer than the private one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7039766e02_0_122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Benefits of Public Blockchain: Open and Transparent</a:t>
            </a:r>
            <a:endParaRPr sz="4000"/>
          </a:p>
        </p:txBody>
      </p:sp>
      <p:sp>
        <p:nvSpPr>
          <p:cNvPr id="116" name="Google Shape;116;g7039766e02_0_122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Public blockchain is open and the data is transparent to all the participant nodes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A copy of the blockchain records or digital ledger is available at every authorized node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This makes the entire blockchain system completely open and transparent 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No one shows a fake transaction or hides an existing one as every node has an updated copy of the database at any given point of time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7039766e02_0_86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Drawbacks of Public Blockchai</a:t>
            </a:r>
            <a:r>
              <a:rPr lang="en-US"/>
              <a:t>n: Lower TPS</a:t>
            </a:r>
            <a:endParaRPr/>
          </a:p>
        </p:txBody>
      </p:sp>
      <p:sp>
        <p:nvSpPr>
          <p:cNvPr id="123" name="Google Shape;123;g7039766e02_0_86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The rate of transactions per second in a public blockchain is very low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This is because it is a huge network with a lot of nodes and for every node to verify a transaction and do proof-of-work is time-consuming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This is why public blockchains like Bitcoin can process only 7 transactions per second or </a:t>
            </a: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uFill>
                  <a:noFill/>
                </a:uFill>
                <a:latin typeface="Economica"/>
                <a:ea typeface="Economica"/>
                <a:cs typeface="Economica"/>
                <a:sym typeface="Economica"/>
                <a:hlinkClick r:id="rId3"/>
              </a:rPr>
              <a:t>Ethereum network</a:t>
            </a: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 has a rate of 15 TPS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On the other hand, a private network such as Visa has a rate of 24,000 TPS indicating a huge difference in speed of transaction processing and execution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7039766e02_0_128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Drawbacks of Public Blockchain: Scalability Issues</a:t>
            </a:r>
            <a:endParaRPr/>
          </a:p>
        </p:txBody>
      </p:sp>
      <p:sp>
        <p:nvSpPr>
          <p:cNvPr id="130" name="Google Shape;130;g7039766e02_0_128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Public blockchain have a slow rate of processing and completing transactions, this causes issues in scalability as well. 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The more we try to increase the size of the network, the slower it will get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However, solutions like Bitcoin’s Lightning Network helps in overcoming this problem. It maintains a rate of the transaction as we increase the size of the network.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039766e02_0_134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Drawbacks of Public Blockchain: High Energy Consumption</a:t>
            </a:r>
            <a:endParaRPr sz="3600"/>
          </a:p>
        </p:txBody>
      </p:sp>
      <p:sp>
        <p:nvSpPr>
          <p:cNvPr id="137" name="Google Shape;137;g7039766e02_0_134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The process of proof-of-work is highly energy consuming as it needs specialized systems (hardware components) to run a special algorithm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It is a matter of concern from both an environmental and economical standpoint. </a:t>
            </a:r>
            <a:endParaRPr sz="260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For example, the Bitcoin’s proof-of-work mechanism is so costly that it consumes as much energy as the country of Ireland!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7039766e02_0_21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Private Blockchain</a:t>
            </a:r>
            <a:endParaRPr/>
          </a:p>
        </p:txBody>
      </p:sp>
      <p:sp>
        <p:nvSpPr>
          <p:cNvPr id="144" name="Google Shape;144;g7039766e02_0_21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 private blockchain is a restrictive or permission blockchain operative only in a closed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Private blockchains are usually used within an organization or enterprises where only selected members are participants of a blockchain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 level of security, authorizations, permissions, accessibility is in the hands of the controlling organization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Private blockchain networks are deployed for voting, supply chain management, digital identity, asset ownership, etc.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7039766e02_0_92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Benefits of Private Blockchain: Speed</a:t>
            </a:r>
            <a:endParaRPr/>
          </a:p>
        </p:txBody>
      </p:sp>
      <p:sp>
        <p:nvSpPr>
          <p:cNvPr id="151" name="Google Shape;151;g7039766e02_0_92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Private blockchains’ transactions occur at greater speed as compared to public blockchains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That means the transactions per second (TPS) rate is higher in the case of private blockchains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is because there is a limited number of nodes in a private network as opposed to a public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fastens the consensus or verification process of a transaction by all the nodes in a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Private blockchains can facilitate the transactions at a rate of up to thousands or hundred thousand TPS at a time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7039766e02_0_140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Benefits of Private Blockchain: Scalability</a:t>
            </a:r>
            <a:endParaRPr/>
          </a:p>
        </p:txBody>
      </p:sp>
      <p:sp>
        <p:nvSpPr>
          <p:cNvPr id="158" name="Google Shape;158;g7039766e02_0_140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Private blockchains are pretty scalable if we choose the right size of private blockchain as per needs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For instance, if there is an organization that needs a blockchain of only 20 nodes, they can easily deploy one. Then after expansion, if they need to add more nodes, they can easily do so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makes private blockchains very scalable as it gives an organization the flexibility to increase or decrease the size of their network without much effort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7039766e02_0_98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Drawbacks of Private Blockc</a:t>
            </a:r>
            <a:r>
              <a:rPr lang="en-US" sz="3800"/>
              <a:t>hain: Needs Trust-building</a:t>
            </a:r>
            <a:endParaRPr sz="3800"/>
          </a:p>
        </p:txBody>
      </p:sp>
      <p:sp>
        <p:nvSpPr>
          <p:cNvPr id="165" name="Google Shape;165;g7039766e02_0_98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As far as a public blockchain is concerned, it is like an open book or as we call it, an open ledger. This ensures the security and legitimacy of every user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Whereas, in a private network, there are limited participants in a restricted network. Especially within an organization, where colleagues know each other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They need to build trust to transmit confidential information within a network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39766e02_0_146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Drawbacks of Private Blockchain: Lower Security</a:t>
            </a:r>
            <a:endParaRPr/>
          </a:p>
        </p:txBody>
      </p:sp>
      <p:sp>
        <p:nvSpPr>
          <p:cNvPr id="172" name="Google Shape;172;g7039766e02_0_146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As a private blockchain network has lesser number of nodes or participants, it runs a higher risk of a security breach. 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If anyone of the nodes gains access to the central management system, it can gain access to all the nodes in the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makes it easier for a node to hack the entire private blockchain and misuse the information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7039766e02_0_152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Drawbacks of Private Blockchain: Centralized</a:t>
            </a:r>
            <a:endParaRPr/>
          </a:p>
        </p:txBody>
      </p:sp>
      <p:sp>
        <p:nvSpPr>
          <p:cNvPr id="179" name="Google Shape;179;g7039766e02_0_152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Private blockchains are restricted, that is they need a central Identity and Access Management (IAM) system for functioning properly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system has all the monitoring and administrative rights. It gives permissions to add a new node in the network or decide the level of access they get for the information stored in the blockchain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whole system contradicts the idea of decentralization which is one of the pillars of blockchain technology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7039766e02_0_28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Hybrid Blockchain</a:t>
            </a:r>
            <a:endParaRPr/>
          </a:p>
        </p:txBody>
      </p:sp>
      <p:sp>
        <p:nvSpPr>
          <p:cNvPr id="186" name="Google Shape;186;g7039766e02_0_28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 combination of public and private blockchain, used by an individual entity that reaps the benefits of both approaches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Users can control who gets access to which data stored in the blockchain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Only a selected section of data or records from the blockchain can be allowed to go public keeping the rest as confidential in the private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Suitable</a:t>
            </a: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for a company with top to bottom hierarchy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Top management is allowed to access both public and private parts of the blockchain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Rest of the employees can only access public part of the </a:t>
            </a: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blockchain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7039766e02_0_46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Public vs. Private vs. Hybrid</a:t>
            </a:r>
            <a:endParaRPr/>
          </a:p>
        </p:txBody>
      </p:sp>
      <p:pic>
        <p:nvPicPr>
          <p:cNvPr id="193" name="Google Shape;193;g7039766e02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59982"/>
            <a:ext cx="9144001" cy="3547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7039766e02_0_37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Consortium Blockchain</a:t>
            </a:r>
            <a:endParaRPr/>
          </a:p>
        </p:txBody>
      </p:sp>
      <p:sp>
        <p:nvSpPr>
          <p:cNvPr id="200" name="Google Shape;200;g7039766e02_0_37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 consortium blockchain is a semi-decentralized type where more than one organization manages a blockchain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More than one organizations can act as a node in this type of blockchain and exchange information or do mining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Only a certain number of nodes defined in advance have the authority to validate transactions 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Consortium blockchains are typically used by banks, government organizations, etc.</a:t>
            </a:r>
            <a:endParaRPr sz="1350">
              <a:solidFill>
                <a:srgbClr val="44444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7039766e02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238" y="152400"/>
            <a:ext cx="6985531" cy="654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7039766e02_0_60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Permissioned Blockchain</a:t>
            </a:r>
            <a:endParaRPr/>
          </a:p>
        </p:txBody>
      </p:sp>
      <p:sp>
        <p:nvSpPr>
          <p:cNvPr id="213" name="Google Shape;213;g7039766e02_0_60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Permissioned blockchains are blockchain networks that require access to be part of it 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In these blockchain types, a control layer runs on top of the blockchain that governs the actions performed by the allowed participants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Blockchains are built such that they grant special permissions to each participant for specific functions to be performed—like read, access and write information on the blockchains</a:t>
            </a:r>
            <a:endParaRPr sz="1300">
              <a:solidFill>
                <a:srgbClr val="11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1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039766e02_0_68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Benefits of Permissioned Blockchain: Efficient Performance</a:t>
            </a:r>
            <a:endParaRPr sz="3500"/>
          </a:p>
        </p:txBody>
      </p:sp>
      <p:sp>
        <p:nvSpPr>
          <p:cNvPr id="220" name="Google Shape;220;g7039766e02_0_68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Permissioned blockchains offer better performance than private blockchains because of the limited number of nodes on the platform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removes the unnecessary computations required to reach consensus on the network, improving the overall performance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On top of that, permissioned networks have their own pre-determined nodes for validating a transaction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7039766e02_0_158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Benefits of Permissioned Blockchain: Proper Governance Structure</a:t>
            </a:r>
            <a:endParaRPr sz="3000"/>
          </a:p>
        </p:txBody>
      </p:sp>
      <p:sp>
        <p:nvSpPr>
          <p:cNvPr id="227" name="Google Shape;227;g7039766e02_0_158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Permissioned networks come with an appropriate structure of governance, this means that they are organized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Administrators require less time to update the rules over the network, which is considerably faster when compared to public blockchain</a:t>
            </a: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s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Public blockchain network suffers from the consensus problem as not all nodes work together to get the new update implemented. These nodes might place their self-interest above the needs of the blockchain, which, in return, means slower updates to the whole network. 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In comparison, permissioned blockchain doesn’t have the problem, as the nodes work together to move the updates faster.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7039766e02_0_164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Benefits of Permissioned Blockchain: Decentralized</a:t>
            </a:r>
            <a:endParaRPr/>
          </a:p>
        </p:txBody>
      </p:sp>
      <p:sp>
        <p:nvSpPr>
          <p:cNvPr id="234" name="Google Shape;234;g7039766e02_0_164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Permissioned networks make proper use of blockchain, including utilizing its decentralized nature for data storage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7039766e02_0_170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Benefits of Permissioned Blockchain: Cost Effective</a:t>
            </a:r>
            <a:endParaRPr/>
          </a:p>
        </p:txBody>
      </p:sp>
      <p:sp>
        <p:nvSpPr>
          <p:cNvPr id="241" name="Google Shape;241;g7039766e02_0_170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Permissioned blockchains are more cost-effective because the validation process is limited to few nodes so rest of the nodes </a:t>
            </a: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don't</a:t>
            </a: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have to perform proof of work everytime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7039766e02_0_74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Drawbacks</a:t>
            </a:r>
            <a:r>
              <a:rPr lang="en-US" sz="3400"/>
              <a:t> of Permissioned Blockchain: Compromised Security</a:t>
            </a:r>
            <a:endParaRPr sz="3400"/>
          </a:p>
        </p:txBody>
      </p:sp>
      <p:sp>
        <p:nvSpPr>
          <p:cNvPr id="248" name="Google Shape;248;g7039766e02_0_74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 security of a permissioned network is as good as the member’s integrity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means that a small section of a permissioned system can work together to modify the data stored within the network, resulting in compromising the integrity of the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To resolve it, the system should have proper permissions set so those bad actors cannot merge together to cause the desired effect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7039766e02_0_176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Drawbacks</a:t>
            </a:r>
            <a:r>
              <a:rPr lang="en-US" sz="3500"/>
              <a:t> of Permissioned Blockchain: Control, Censorship and Regulation</a:t>
            </a:r>
            <a:endParaRPr/>
          </a:p>
        </p:txBody>
      </p:sp>
      <p:sp>
        <p:nvSpPr>
          <p:cNvPr id="255" name="Google Shape;255;g7039766e02_0_176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 regulations bring censorship to the network, where the authority can restrict a transaction or control it from happening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These are a threat to any business or organization who is using the permissioned network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approach also stops the permissioned network from making the most out of the whole blockchain ecosystem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7039766e02_0_182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Permissioned vs. </a:t>
            </a:r>
            <a:r>
              <a:rPr lang="en-US"/>
              <a:t>Permissionless</a:t>
            </a:r>
            <a:r>
              <a:rPr lang="en-US"/>
              <a:t> Blockchain</a:t>
            </a:r>
            <a:endParaRPr/>
          </a:p>
        </p:txBody>
      </p:sp>
      <p:graphicFrame>
        <p:nvGraphicFramePr>
          <p:cNvPr id="262" name="Google Shape;262;g7039766e02_0_182"/>
          <p:cNvGraphicFramePr/>
          <p:nvPr/>
        </p:nvGraphicFramePr>
        <p:xfrm>
          <a:off x="341213" y="167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{FF5A3F02-EECF-472F-8959-CB2B2F48F8DE}</a:tableStyleId>
              </a:tblPr>
              <a:tblGrid>
                <a:gridCol w="2820525"/>
                <a:gridCol w="2820525"/>
                <a:gridCol w="2820525"/>
              </a:tblGrid>
              <a:tr h="67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Category</a:t>
                      </a:r>
                      <a:endParaRPr b="1"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Permissioned</a:t>
                      </a:r>
                      <a:endParaRPr b="1"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Permissionless</a:t>
                      </a:r>
                      <a:endParaRPr b="1"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</a:tr>
              <a:tr h="67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Speed</a:t>
                      </a:r>
                      <a:endParaRPr b="1"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Faster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Slower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</a:tr>
              <a:tr h="67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Privacy</a:t>
                      </a:r>
                      <a:endParaRPr b="1"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Private Membership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Transparent and open - Anyone can become a member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</a:tr>
              <a:tr h="67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Ownership</a:t>
                      </a:r>
                      <a:endParaRPr b="1"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Managed by predefined group of nodes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Public ownership - No one owns the network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</a:tr>
              <a:tr h="67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Decentralization Nature</a:t>
                      </a:r>
                      <a:endParaRPr b="1"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Partially decentralized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Truly decentralized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</a:tr>
              <a:tr h="67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Cost</a:t>
                      </a:r>
                      <a:endParaRPr b="1"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Cost effective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Not-so cost effective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</a:tr>
              <a:tr h="67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Security</a:t>
                      </a:r>
                      <a:endParaRPr b="1"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Less secure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More secure</a:t>
                      </a:r>
                      <a:endParaRPr sz="20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6f0f40772d_0_158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 Book</a:t>
            </a:r>
            <a:endParaRPr/>
          </a:p>
        </p:txBody>
      </p:sp>
      <p:sp>
        <p:nvSpPr>
          <p:cNvPr id="269" name="Google Shape;269;g6f0f40772d_0_158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 sz="3600">
                <a:latin typeface="Economica"/>
                <a:ea typeface="Economica"/>
                <a:cs typeface="Economica"/>
                <a:sym typeface="Economica"/>
              </a:rPr>
              <a:t>Bitcoin and Cryptocurrency Technologies</a:t>
            </a:r>
            <a:endParaRPr b="1" sz="36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 sz="3000">
                <a:solidFill>
                  <a:srgbClr val="1C4587"/>
                </a:solidFill>
                <a:latin typeface="Economica"/>
                <a:ea typeface="Economica"/>
                <a:cs typeface="Economica"/>
                <a:sym typeface="Economica"/>
              </a:rPr>
              <a:t>Authors:</a:t>
            </a: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 Arvind Narayanan, Joseph Bonneau, Edward Felten, Andrew Miller, Steven Goldfeder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 sz="3000">
                <a:solidFill>
                  <a:srgbClr val="1C4587"/>
                </a:solidFill>
                <a:latin typeface="Economica"/>
                <a:ea typeface="Economica"/>
                <a:cs typeface="Economica"/>
                <a:sym typeface="Economica"/>
              </a:rPr>
              <a:t>Publisher:</a:t>
            </a: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 Princeton University Press</a:t>
            </a:r>
            <a:endParaRPr sz="3000">
              <a:solidFill>
                <a:srgbClr val="577688"/>
              </a:solidFill>
              <a:highlight>
                <a:srgbClr val="F6FBFC"/>
              </a:highlight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2010-01-24T17:29:57Z</dcterms:created>
  <dc:creator>bahadur</dc:creator>
</cp:coreProperties>
</file>